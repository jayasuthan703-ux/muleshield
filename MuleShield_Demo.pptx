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Segoe UI"/>
              </a:rPr>
              <a:t>HACKATHON DEMO · CYBER AWARENESS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574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E8EEF9"/>
                </a:solidFill>
                <a:latin typeface="Segoe UI"/>
              </a:rPr>
              <a:t>MuleShield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DD4BF"/>
                </a:solidFill>
                <a:latin typeface="Segoe UI"/>
              </a:rPr>
              <a:t>Spot it.  Refuse it.  Report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3A4C3"/>
                </a:solidFill>
                <a:latin typeface="Segoe UI"/>
              </a:rPr>
              <a:t>A local web app that helps students recognise and refuse money-mule recruitment offers — and shows the bank's side of the same story.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029200"/>
            <a:ext cx="6949440" cy="685800"/>
          </a:xfrm>
          <a:prstGeom prst="roundRect">
            <a:avLst/>
          </a:prstGeom>
          <a:solidFill>
            <a:srgbClr val="121B2E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D4BF"/>
                </a:solidFill>
                <a:latin typeface="Segoe UI"/>
              </a:rPr>
              <a:t>LIVE:  https://muleshield-r4zy.onrender.com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3A4C3"/>
                </a:solidFill>
                <a:latin typeface="Segoe UI"/>
              </a:rPr>
              <a:t>MuleShield · synthetic data · illustrative signals, not legal advice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3A4C3"/>
                </a:solidFill>
                <a:latin typeface="Segoe UI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4980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EF9"/>
                </a:solidFill>
                <a:latin typeface="Segoe UI"/>
              </a:rPr>
              <a:t>Money mules: students doing prison-time work for pocket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700" b="1">
                <a:solidFill>
                  <a:srgbClr val="E8EEF9"/>
                </a:solidFill>
                <a:latin typeface="Segoe UI"/>
              </a:rPr>
              <a:t>Recruiters pay students </a:t>
            </a:r>
            <a:r>
              <a:rPr sz="1700">
                <a:solidFill>
                  <a:srgbClr val="93A4C3"/>
                </a:solidFill>
                <a:latin typeface="Segoe UI"/>
              </a:rPr>
              <a:t>to “just forward” money that lands in their account.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700" b="1">
                <a:solidFill>
                  <a:srgbClr val="E8EEF9"/>
                </a:solidFill>
                <a:latin typeface="Segoe UI"/>
              </a:rPr>
              <a:t>The account launders stolen funds </a:t>
            </a:r>
            <a:r>
              <a:rPr sz="1700">
                <a:solidFill>
                  <a:srgbClr val="93A4C3"/>
                </a:solidFill>
                <a:latin typeface="Segoe UI"/>
              </a:rPr>
              <a:t>— the student becomes the trail.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700" b="1">
                <a:solidFill>
                  <a:srgbClr val="E8EEF9"/>
                </a:solidFill>
                <a:latin typeface="Segoe UI"/>
              </a:rPr>
              <a:t>A few days of transfers </a:t>
            </a:r>
            <a:r>
              <a:rPr sz="1700">
                <a:solidFill>
                  <a:srgbClr val="93A4C3"/>
                </a:solidFill>
                <a:latin typeface="Segoe UI"/>
              </a:rPr>
              <a:t>can mean years of legal risk, frozen accounts, an FIR.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700" b="1">
                <a:solidFill>
                  <a:srgbClr val="E8EEF9"/>
                </a:solidFill>
                <a:latin typeface="Segoe UI"/>
              </a:rPr>
              <a:t>The script always uses </a:t>
            </a:r>
            <a:r>
              <a:rPr sz="1700">
                <a:solidFill>
                  <a:srgbClr val="93A4C3"/>
                </a:solidFill>
                <a:latin typeface="Segoe UI"/>
              </a:rPr>
              <a:t>secrecy, urgency and easy commission.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700" b="1">
                <a:solidFill>
                  <a:srgbClr val="E8EEF9"/>
                </a:solidFill>
                <a:latin typeface="Segoe UI"/>
              </a:rPr>
              <a:t>It targets exam season </a:t>
            </a:r>
            <a:r>
              <a:rPr sz="1700">
                <a:solidFill>
                  <a:srgbClr val="93A4C3"/>
                </a:solidFill>
                <a:latin typeface="Segoe UI"/>
              </a:rPr>
              <a:t>— fees due, part-time jobs wanted, nobody suspicious.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3A4C3"/>
                </a:solidFill>
                <a:latin typeface="Segoe UI"/>
              </a:rPr>
              <a:t>MuleShield · synthetic data · illustrative signals, not legal advice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3A4C3"/>
                </a:solidFill>
                <a:latin typeface="Segoe UI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Segoe UI"/>
              </a:rPr>
              <a:t>THE TRAP,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4980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EF9"/>
                </a:solidFill>
                <a:latin typeface="Segoe UI"/>
              </a:rPr>
              <a:t>Simulator: the real recruitment script, replayed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700" b="1">
                <a:solidFill>
                  <a:srgbClr val="E8EEF9"/>
                </a:solidFill>
                <a:latin typeface="Segoe UI"/>
              </a:rPr>
              <a:t>7-step timeline: </a:t>
            </a:r>
            <a:r>
              <a:rPr sz="1700">
                <a:solidFill>
                  <a:srgbClr val="93A4C3"/>
                </a:solidFill>
                <a:latin typeface="Segoe UI"/>
              </a:rPr>
              <a:t>DM → job pitch → first credit → pressure → payout promise.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700" b="1">
                <a:solidFill>
                  <a:srgbClr val="E8EEF9"/>
                </a:solidFill>
                <a:latin typeface="Segoe UI"/>
              </a:rPr>
              <a:t>Every card is factual and calm </a:t>
            </a:r>
            <a:r>
              <a:rPr sz="1700">
                <a:solidFill>
                  <a:srgbClr val="93A4C3"/>
                </a:solidFill>
                <a:latin typeface="Segoe UI"/>
              </a:rPr>
              <a:t>— marked “illustrative scenario, not legal advice”.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700" b="1">
                <a:solidFill>
                  <a:srgbClr val="E8EEF9"/>
                </a:solidFill>
                <a:latin typeface="Segoe UI"/>
              </a:rPr>
              <a:t>A “refuse and report” branch </a:t>
            </a:r>
            <a:r>
              <a:rPr sz="1700">
                <a:solidFill>
                  <a:srgbClr val="93A4C3"/>
                </a:solidFill>
                <a:latin typeface="Segoe UI"/>
              </a:rPr>
              <a:t>shows the safe exit — the decision the whole app is built for.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700" b="1">
                <a:solidFill>
                  <a:srgbClr val="E8EEF9"/>
                </a:solidFill>
                <a:latin typeface="Segoe UI"/>
              </a:rPr>
              <a:t>Steps are announced to screen readers </a:t>
            </a:r>
            <a:r>
              <a:rPr sz="1700">
                <a:solidFill>
                  <a:srgbClr val="93A4C3"/>
                </a:solidFill>
                <a:latin typeface="Segoe UI"/>
              </a:rPr>
              <a:t>(aria-live) and work on a phone.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3A4C3"/>
                </a:solidFill>
                <a:latin typeface="Segoe UI"/>
              </a:rPr>
              <a:t>MuleShield · synthetic data · illustrative signals, not legal advice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3A4C3"/>
                </a:solidFill>
                <a:latin typeface="Segoe UI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Segoe U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4980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EF9"/>
                </a:solidFill>
                <a:latin typeface="Segoe UI"/>
              </a:rPr>
              <a:t>Six pages, one app — static frontend + FastAPI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600" b="1">
                <a:solidFill>
                  <a:srgbClr val="E8EEF9"/>
                </a:solidFill>
                <a:latin typeface="Segoe UI"/>
              </a:rPr>
              <a:t>Home </a:t>
            </a:r>
            <a:r>
              <a:rPr sz="1600">
                <a:solidFill>
                  <a:srgbClr val="93A4C3"/>
                </a:solidFill>
                <a:latin typeface="Segoe UI"/>
              </a:rPr>
              <a:t>— paste an offer, get a 0–100 score with highlighted snippets.</a:t>
            </a: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600" b="1">
                <a:solidFill>
                  <a:srgbClr val="E8EEF9"/>
                </a:solidFill>
                <a:latin typeface="Segoe UI"/>
              </a:rPr>
              <a:t>Simulator </a:t>
            </a:r>
            <a:r>
              <a:rPr sz="1600">
                <a:solidFill>
                  <a:srgbClr val="93A4C3"/>
                </a:solidFill>
                <a:latin typeface="Segoe UI"/>
              </a:rPr>
              <a:t>— the 7-step trap walkthrough with a safe exit.</a:t>
            </a: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600" b="1">
                <a:solidFill>
                  <a:srgbClr val="E8EEF9"/>
                </a:solidFill>
                <a:latin typeface="Segoe UI"/>
              </a:rPr>
              <a:t>Report </a:t>
            </a:r>
            <a:r>
              <a:rPr sz="1600">
                <a:solidFill>
                  <a:srgbClr val="93A4C3"/>
                </a:solidFill>
                <a:latin typeface="Segoe UI"/>
              </a:rPr>
              <a:t>— anonymous, indicator-only reporting.</a:t>
            </a: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600" b="1">
                <a:solidFill>
                  <a:srgbClr val="E8EEF9"/>
                </a:solidFill>
                <a:latin typeface="Segoe UI"/>
              </a:rPr>
              <a:t>Campus Alerts </a:t>
            </a:r>
            <a:r>
              <a:rPr sz="1600">
                <a:solidFill>
                  <a:srgbClr val="93A4C3"/>
                </a:solidFill>
                <a:latin typeface="Segoe UI"/>
              </a:rPr>
              <a:t>— clusters of matching reports; 3+ = ACTIVE alert.</a:t>
            </a: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600" b="1">
                <a:solidFill>
                  <a:srgbClr val="E8EEF9"/>
                </a:solidFill>
                <a:latin typeface="Segoe UI"/>
              </a:rPr>
              <a:t>Bank Dashboard </a:t>
            </a:r>
            <a:r>
              <a:rPr sz="1600">
                <a:solidFill>
                  <a:srgbClr val="93A4C3"/>
                </a:solidFill>
                <a:latin typeface="Segoe UI"/>
              </a:rPr>
              <a:t>— anomaly scoring of 200 synthetic accounts.</a:t>
            </a: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600" b="1">
                <a:solidFill>
                  <a:srgbClr val="E8EEF9"/>
                </a:solidFill>
                <a:latin typeface="Segoe UI"/>
              </a:rPr>
              <a:t>Learn </a:t>
            </a:r>
            <a:r>
              <a:rPr sz="1600">
                <a:solidFill>
                  <a:srgbClr val="93A4C3"/>
                </a:solidFill>
                <a:latin typeface="Segoe UI"/>
              </a:rPr>
              <a:t>— red-flag checklist, myth-busting, shareable alert text.</a:t>
            </a: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600" b="1">
                <a:solidFill>
                  <a:srgbClr val="E8EEF9"/>
                </a:solidFill>
                <a:latin typeface="Segoe UI"/>
              </a:rPr>
              <a:t>No build step · runs offline · </a:t>
            </a:r>
            <a:r>
              <a:rPr sz="1600">
                <a:solidFill>
                  <a:srgbClr val="93A4C3"/>
                </a:solidFill>
                <a:latin typeface="Segoe UI"/>
              </a:rPr>
              <a:t>no CDNs, Chart.js vendored locally.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3A4C3"/>
                </a:solidFill>
                <a:latin typeface="Segoe UI"/>
              </a:rPr>
              <a:t>MuleShield · synthetic data · illustrative signals, not legal advice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3A4C3"/>
                </a:solidFill>
                <a:latin typeface="Segoe UI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Segoe UI"/>
              </a:rPr>
              <a:t>DETECT THE OFFER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4980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EF9"/>
                </a:solidFill>
                <a:latin typeface="Segoe UI"/>
              </a:rPr>
              <a:t>Home analyzer: transparent rules + TF-IDF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700" b="1">
                <a:solidFill>
                  <a:srgbClr val="E8EEF9"/>
                </a:solidFill>
                <a:latin typeface="Segoe UI"/>
              </a:rPr>
              <a:t>Blend: </a:t>
            </a:r>
            <a:r>
              <a:rPr sz="1700">
                <a:solidFill>
                  <a:srgbClr val="93A4C3"/>
                </a:solidFill>
                <a:latin typeface="Segoe UI"/>
              </a:rPr>
              <a:t>0.4 × readable rules + 0.6 × ML model; High ≥ 65, Medium ≥ 30.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700" b="1">
                <a:solidFill>
                  <a:srgbClr val="E8EEF9"/>
                </a:solidFill>
                <a:latin typeface="Segoe UI"/>
              </a:rPr>
              <a:t>Evidence, not a verdict: </a:t>
            </a:r>
            <a:r>
              <a:rPr sz="1700">
                <a:solidFill>
                  <a:srgbClr val="93A4C3"/>
                </a:solidFill>
                <a:latin typeface="Segoe UI"/>
              </a:rPr>
              <a:t>each signal shows the exact snippet + why it matters.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700" b="1">
                <a:solidFill>
                  <a:srgbClr val="E8EEF9"/>
                </a:solidFill>
                <a:latin typeface="Segoe UI"/>
              </a:rPr>
              <a:t>Multilingual </a:t>
            </a:r>
            <a:r>
              <a:rPr sz="1700">
                <a:solidFill>
                  <a:srgbClr val="93A4C3"/>
                </a:solidFill>
                <a:latin typeface="Segoe UI"/>
              </a:rPr>
              <a:t>— Tamil offers detected with the same rigour.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700" b="1">
                <a:solidFill>
                  <a:srgbClr val="E8EEF9"/>
                </a:solidFill>
                <a:latin typeface="Segoe UI"/>
              </a:rPr>
              <a:t>Handles gracefully </a:t>
            </a:r>
            <a:r>
              <a:rPr sz="1700">
                <a:solidFill>
                  <a:srgbClr val="93A4C3"/>
                </a:solidFill>
                <a:latin typeface="Segoe UI"/>
              </a:rPr>
              <a:t>empty, huge, and everyday-friendly input (no false alarms).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4160520"/>
            <a:ext cx="3444240" cy="2011680"/>
          </a:xfrm>
          <a:prstGeom prst="roundRect">
            <a:avLst/>
          </a:prstGeom>
          <a:solidFill>
            <a:srgbClr val="121B2E"/>
          </a:solidFill>
          <a:ln w="1587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F87171"/>
                </a:solidFill>
                <a:latin typeface="Segoe UI"/>
              </a:rPr>
              <a:t>98</a:t>
            </a:r>
          </a:p>
          <a:p>
            <a:pPr algn="ctr"/>
            <a:r>
              <a:rPr sz="1400">
                <a:solidFill>
                  <a:srgbClr val="93A4C3"/>
                </a:solidFill>
                <a:latin typeface="Segoe UI"/>
              </a:rPr>
              <a:t>English scam → HIGH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7784" y="4160520"/>
            <a:ext cx="3444240" cy="2011680"/>
          </a:xfrm>
          <a:prstGeom prst="roundRect">
            <a:avLst/>
          </a:prstGeom>
          <a:solidFill>
            <a:srgbClr val="121B2E"/>
          </a:solidFill>
          <a:ln w="1587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F87171"/>
                </a:solidFill>
                <a:latin typeface="Segoe UI"/>
              </a:rPr>
              <a:t>93</a:t>
            </a:r>
          </a:p>
          <a:p>
            <a:pPr algn="ctr"/>
            <a:r>
              <a:rPr sz="1400">
                <a:solidFill>
                  <a:srgbClr val="93A4C3"/>
                </a:solidFill>
                <a:latin typeface="Segoe UI"/>
              </a:rPr>
              <a:t>Tamil scam → HIGH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2064" y="4160520"/>
            <a:ext cx="3444240" cy="2011680"/>
          </a:xfrm>
          <a:prstGeom prst="roundRect">
            <a:avLst/>
          </a:prstGeom>
          <a:solidFill>
            <a:srgbClr val="121B2E"/>
          </a:solidFill>
          <a:ln w="1587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2DD4BF"/>
                </a:solidFill>
                <a:latin typeface="Segoe UI"/>
              </a:rPr>
              <a:t>17</a:t>
            </a:r>
          </a:p>
          <a:p>
            <a:pPr algn="ctr"/>
            <a:r>
              <a:rPr sz="1400">
                <a:solidFill>
                  <a:srgbClr val="93A4C3"/>
                </a:solidFill>
                <a:latin typeface="Segoe UI"/>
              </a:rPr>
              <a:t>Canteen chat → 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3A4C3"/>
                </a:solidFill>
                <a:latin typeface="Segoe UI"/>
              </a:rPr>
              <a:t>MuleShield · synthetic data · illustrative signals, not legal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3A4C3"/>
                </a:solidFill>
                <a:latin typeface="Segoe UI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Segoe UI"/>
              </a:rPr>
              <a:t>REPORT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4980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EF9"/>
                </a:solidFill>
                <a:latin typeface="Segoe UI"/>
              </a:rPr>
              <a:t>Anonymous reporting that never stores your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700" b="1">
                <a:solidFill>
                  <a:srgbClr val="E8EEF9"/>
                </a:solidFill>
                <a:latin typeface="Segoe UI"/>
              </a:rPr>
              <a:t>Extracts indicators only </a:t>
            </a:r>
            <a:r>
              <a:rPr sz="1700">
                <a:solidFill>
                  <a:srgbClr val="93A4C3"/>
                </a:solidFill>
                <a:latin typeface="Segoe UI"/>
              </a:rPr>
              <a:t>— phone, UPI id, URL, Telegram/WhatsApp handles.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700" b="1">
                <a:solidFill>
                  <a:srgbClr val="E8EEF9"/>
                </a:solidFill>
                <a:latin typeface="Segoe UI"/>
              </a:rPr>
              <a:t>Stores salted hashes + masks </a:t>
            </a:r>
            <a:r>
              <a:rPr sz="1700">
                <a:solidFill>
                  <a:srgbClr val="93A4C3"/>
                </a:solidFill>
                <a:latin typeface="Segoe UI"/>
              </a:rPr>
              <a:t>like 98xxxxxx10 — the raw text is discarded, by schema.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700" b="1">
                <a:solidFill>
                  <a:srgbClr val="E8EEF9"/>
                </a:solidFill>
                <a:latin typeface="Segoe UI"/>
              </a:rPr>
              <a:t>3+ matching reports </a:t>
            </a:r>
            <a:r>
              <a:rPr sz="1700">
                <a:solidFill>
                  <a:srgbClr val="93A4C3"/>
                </a:solidFill>
                <a:latin typeface="Segoe UI"/>
              </a:rPr>
              <a:t>= ACTIVE campus alert for the whole campus.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700" b="1">
                <a:solidFill>
                  <a:srgbClr val="E8EEF9"/>
                </a:solidFill>
                <a:latin typeface="Segoe UI"/>
              </a:rPr>
              <a:t>One click builds a redacted </a:t>
            </a:r>
            <a:r>
              <a:rPr sz="1700">
                <a:solidFill>
                  <a:srgbClr val="93A4C3"/>
                </a:solidFill>
                <a:latin typeface="Segoe UI"/>
              </a:rPr>
              <a:t>cybercrime.gov.in summary — personal fields left blank.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700" b="1">
                <a:solidFill>
                  <a:srgbClr val="E8EEF9"/>
                </a:solidFill>
                <a:latin typeface="Segoe UI"/>
              </a:rPr>
              <a:t>Per-install salt </a:t>
            </a:r>
            <a:r>
              <a:rPr sz="1700">
                <a:solidFill>
                  <a:srgbClr val="93A4C3"/>
                </a:solidFill>
                <a:latin typeface="Segoe UI"/>
              </a:rPr>
              <a:t>means hashes can't be linked across installs.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3A4C3"/>
                </a:solidFill>
                <a:latin typeface="Segoe UI"/>
              </a:rPr>
              <a:t>MuleShield · synthetic data · illustrative signals, not legal advice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3A4C3"/>
                </a:solidFill>
                <a:latin typeface="Segoe UI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Segoe UI"/>
              </a:rPr>
              <a:t>THE BANK'S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4980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EF9"/>
                </a:solidFill>
                <a:latin typeface="Segoe UI"/>
              </a:rPr>
              <a:t>Bank Dashboard: Isolation Forest + 5 readable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700" b="1">
                <a:solidFill>
                  <a:srgbClr val="E8EEF9"/>
                </a:solidFill>
                <a:latin typeface="Segoe UI"/>
              </a:rPr>
              <a:t>Features: </a:t>
            </a:r>
            <a:r>
              <a:rPr sz="1700">
                <a:solidFill>
                  <a:srgbClr val="93A4C3"/>
                </a:solidFill>
                <a:latin typeface="Segoe UI"/>
              </a:rPr>
              <a:t>pass-through ratio, unique senders, time-to-forward, retained balance, new device.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700" b="1">
                <a:solidFill>
                  <a:srgbClr val="E8EEF9"/>
                </a:solidFill>
                <a:latin typeface="Segoe UI"/>
              </a:rPr>
              <a:t>Readable explanations </a:t>
            </a:r>
            <a:r>
              <a:rPr sz="1700">
                <a:solidFill>
                  <a:srgbClr val="93A4C3"/>
                </a:solidFill>
                <a:latin typeface="Segoe UI"/>
              </a:rPr>
              <a:t>— every flag ships a plain-English “why”.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700" b="1">
                <a:solidFill>
                  <a:srgbClr val="E8EEF9"/>
                </a:solidFill>
                <a:latin typeface="Segoe UI"/>
              </a:rPr>
              <a:t>Money-flow chart </a:t>
            </a:r>
            <a:r>
              <a:rPr sz="1700">
                <a:solidFill>
                  <a:srgbClr val="93A4C3"/>
                </a:solidFill>
                <a:latin typeface="Segoe UI"/>
              </a:rPr>
              <a:t>— teal credits in, red debits out minutes later.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700" b="1">
                <a:solidFill>
                  <a:srgbClr val="E8EEF9"/>
                </a:solidFill>
                <a:latin typeface="Segoe UI"/>
              </a:rPr>
              <a:t>Permanent banner: </a:t>
            </a:r>
            <a:r>
              <a:rPr sz="1700">
                <a:solidFill>
                  <a:srgbClr val="93A4C3"/>
                </a:solidFill>
                <a:latin typeface="Segoe UI"/>
              </a:rPr>
              <a:t>“Synthetic data for demonstration only.”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4160520"/>
            <a:ext cx="3444240" cy="2011680"/>
          </a:xfrm>
          <a:prstGeom prst="roundRect">
            <a:avLst/>
          </a:prstGeom>
          <a:solidFill>
            <a:srgbClr val="121B2E"/>
          </a:solidFill>
          <a:ln w="1587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F87171"/>
                </a:solidFill>
                <a:latin typeface="Segoe UI"/>
              </a:rPr>
              <a:t>#1–10</a:t>
            </a:r>
          </a:p>
          <a:p>
            <a:pPr algn="ctr"/>
            <a:r>
              <a:rPr sz="1400">
                <a:solidFill>
                  <a:srgbClr val="93A4C3"/>
                </a:solidFill>
                <a:latin typeface="Segoe UI"/>
              </a:rPr>
              <a:t>all 10 mules ranked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7784" y="4160520"/>
            <a:ext cx="3444240" cy="2011680"/>
          </a:xfrm>
          <a:prstGeom prst="roundRect">
            <a:avLst/>
          </a:prstGeom>
          <a:solidFill>
            <a:srgbClr val="121B2E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FBBF24"/>
                </a:solidFill>
                <a:latin typeface="Segoe UI"/>
              </a:rPr>
              <a:t>87–100</a:t>
            </a:r>
          </a:p>
          <a:p>
            <a:pPr algn="ctr"/>
            <a:r>
              <a:rPr sz="1400">
                <a:solidFill>
                  <a:srgbClr val="93A4C3"/>
                </a:solidFill>
                <a:latin typeface="Segoe UI"/>
              </a:rPr>
              <a:t>mule scores (flag ≥ 70)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2064" y="4160520"/>
            <a:ext cx="3444240" cy="2011680"/>
          </a:xfrm>
          <a:prstGeom prst="roundRect">
            <a:avLst/>
          </a:prstGeom>
          <a:solidFill>
            <a:srgbClr val="121B2E"/>
          </a:solidFill>
          <a:ln w="1587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2DD4BF"/>
                </a:solidFill>
                <a:latin typeface="Segoe UI"/>
              </a:rPr>
              <a:t>#11 · 52</a:t>
            </a:r>
          </a:p>
          <a:p>
            <a:pPr algn="ctr"/>
            <a:r>
              <a:rPr sz="1400">
                <a:solidFill>
                  <a:srgbClr val="93A4C3"/>
                </a:solidFill>
                <a:latin typeface="Segoe UI"/>
              </a:rPr>
              <a:t>best honest account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3A4C3"/>
                </a:solidFill>
                <a:latin typeface="Segoe UI"/>
              </a:rPr>
              <a:t>MuleShield · synthetic data · illustrative signals, not legal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3A4C3"/>
                </a:solidFill>
                <a:latin typeface="Segoe UI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Segoe UI"/>
              </a:rPr>
              <a:t>PROVEN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4980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EF9"/>
                </a:solidFill>
                <a:latin typeface="Segoe UI"/>
              </a:rPr>
              <a:t>Working, tested, deployed —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2011680"/>
            <a:ext cx="3444240" cy="2011680"/>
          </a:xfrm>
          <a:prstGeom prst="roundRect">
            <a:avLst/>
          </a:prstGeom>
          <a:solidFill>
            <a:srgbClr val="121B2E"/>
          </a:solidFill>
          <a:ln w="1587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2DD4BF"/>
                </a:solidFill>
                <a:latin typeface="Segoe UI"/>
              </a:rPr>
              <a:t>21/21</a:t>
            </a:r>
          </a:p>
          <a:p>
            <a:pPr algn="ctr"/>
            <a:r>
              <a:rPr sz="1400">
                <a:solidFill>
                  <a:srgbClr val="93A4C3"/>
                </a:solidFill>
                <a:latin typeface="Segoe UI"/>
              </a:rPr>
              <a:t>automated tests pass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7784" y="2011680"/>
            <a:ext cx="3444240" cy="2011680"/>
          </a:xfrm>
          <a:prstGeom prst="roundRect">
            <a:avLst/>
          </a:prstGeom>
          <a:solidFill>
            <a:srgbClr val="121B2E"/>
          </a:solidFill>
          <a:ln w="1587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2DD4BF"/>
                </a:solidFill>
                <a:latin typeface="Segoe UI"/>
              </a:rPr>
              <a:t>17/17</a:t>
            </a:r>
          </a:p>
          <a:p>
            <a:pPr algn="ctr"/>
            <a:r>
              <a:rPr sz="1400">
                <a:solidFill>
                  <a:srgbClr val="93A4C3"/>
                </a:solidFill>
                <a:latin typeface="Segoe UI"/>
              </a:rPr>
              <a:t>endpoint checks (live)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2064" y="2011680"/>
            <a:ext cx="3444240" cy="2011680"/>
          </a:xfrm>
          <a:prstGeom prst="roundRect">
            <a:avLst/>
          </a:prstGeom>
          <a:solidFill>
            <a:srgbClr val="121B2E"/>
          </a:solidFill>
          <a:ln w="1587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2DD4BF"/>
                </a:solidFill>
                <a:latin typeface="Segoe UI"/>
              </a:rPr>
              <a:t>0</a:t>
            </a:r>
          </a:p>
          <a:p>
            <a:pPr algn="ctr"/>
            <a:r>
              <a:rPr sz="1400">
                <a:solidFill>
                  <a:srgbClr val="93A4C3"/>
                </a:solidFill>
                <a:latin typeface="Segoe UI"/>
              </a:rPr>
              <a:t>external requests at runtime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26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600" b="1">
                <a:solidFill>
                  <a:srgbClr val="E8EEF9"/>
                </a:solidFill>
                <a:latin typeface="Segoe UI"/>
              </a:rPr>
              <a:t>Clean-install verified </a:t>
            </a:r>
            <a:r>
              <a:rPr sz="1600">
                <a:solidFill>
                  <a:srgbClr val="93A4C3"/>
                </a:solidFill>
                <a:latin typeface="Segoe UI"/>
              </a:rPr>
              <a:t>— fresh venv from requirements.txt only, first-run data generation tested.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600" b="1">
                <a:solidFill>
                  <a:srgbClr val="E8EEF9"/>
                </a:solidFill>
                <a:latin typeface="Segoe UI"/>
              </a:rPr>
              <a:t>Deployed free on Render </a:t>
            </a:r>
            <a:r>
              <a:rPr sz="1600">
                <a:solidFill>
                  <a:srgbClr val="93A4C3"/>
                </a:solidFill>
                <a:latin typeface="Segoe UI"/>
              </a:rPr>
              <a:t>— cold start auto-generates and re-seeds demo data.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600" b="1">
                <a:solidFill>
                  <a:srgbClr val="E8EEF9"/>
                </a:solidFill>
                <a:latin typeface="Segoe UI"/>
              </a:rPr>
              <a:t>Live demo: </a:t>
            </a:r>
            <a:r>
              <a:rPr sz="1600">
                <a:solidFill>
                  <a:srgbClr val="93A4C3"/>
                </a:solidFill>
                <a:latin typeface="Segoe UI"/>
              </a:rPr>
              <a:t>https://muleshield-r4zy.onrender.com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3A4C3"/>
                </a:solidFill>
                <a:latin typeface="Segoe UI"/>
              </a:rPr>
              <a:t>MuleShield · synthetic data · illustrative signals, not legal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3A4C3"/>
                </a:solidFill>
                <a:latin typeface="Segoe UI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Segoe UI"/>
              </a:rPr>
              <a:t>PRIVACY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4980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EF9"/>
                </a:solidFill>
                <a:latin typeface="Segoe UI"/>
              </a:rPr>
              <a:t>Ethics built into the schema, not just the copy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700" b="1">
                <a:solidFill>
                  <a:srgbClr val="E8EEF9"/>
                </a:solidFill>
                <a:latin typeface="Segoe UI"/>
              </a:rPr>
              <a:t>No raw text anywhere: </a:t>
            </a:r>
            <a:r>
              <a:rPr sz="1700">
                <a:solidFill>
                  <a:srgbClr val="93A4C3"/>
                </a:solidFill>
                <a:latin typeface="Segoe UI"/>
              </a:rPr>
              <a:t>the database has no column that could hold your message.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700" b="1">
                <a:solidFill>
                  <a:srgbClr val="E8EEF9"/>
                </a:solidFill>
                <a:latin typeface="Segoe UI"/>
              </a:rPr>
              <a:t>What's stored: </a:t>
            </a:r>
            <a:r>
              <a:rPr sz="1700">
                <a:solidFill>
                  <a:srgbClr val="93A4C3"/>
                </a:solidFill>
                <a:latin typeface="Segoe UI"/>
              </a:rPr>
              <a:t>salted indicator hashes, masked indicators, campus tag, timestamp, derived numbers.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700" b="1">
                <a:solidFill>
                  <a:srgbClr val="E8EEF9"/>
                </a:solidFill>
                <a:latin typeface="Segoe UI"/>
              </a:rPr>
              <a:t>All data invented </a:t>
            </a:r>
            <a:r>
              <a:rPr sz="1700">
                <a:solidFill>
                  <a:srgbClr val="93A4C3"/>
                </a:solidFill>
                <a:latin typeface="Segoe UI"/>
              </a:rPr>
              <a:t>— no real numbers, names, accounts or employers anywhere.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700" b="1">
                <a:solidFill>
                  <a:srgbClr val="E8EEF9"/>
                </a:solidFill>
                <a:latin typeface="Segoe UI"/>
              </a:rPr>
              <a:t>Zero network calls </a:t>
            </a:r>
            <a:r>
              <a:rPr sz="1700">
                <a:solidFill>
                  <a:srgbClr val="93A4C3"/>
                </a:solidFill>
                <a:latin typeface="Segoe UI"/>
              </a:rPr>
              <a:t>at runtime — no CDNs, fonts, telemetry or paid APIs.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700" b="1">
                <a:solidFill>
                  <a:srgbClr val="E8EEF9"/>
                </a:solidFill>
                <a:latin typeface="Segoe UI"/>
              </a:rPr>
              <a:t>Honest framing </a:t>
            </a:r>
            <a:r>
              <a:rPr sz="1700">
                <a:solidFill>
                  <a:srgbClr val="93A4C3"/>
                </a:solidFill>
                <a:latin typeface="Segoe UI"/>
              </a:rPr>
              <a:t>— banners and footers mark synthetic data and “not legal advice”.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3A4C3"/>
                </a:solidFill>
                <a:latin typeface="Segoe UI"/>
              </a:rPr>
              <a:t>MuleShield · synthetic data · illustrative signals, not legal advice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3A4C3"/>
                </a:solidFill>
                <a:latin typeface="Segoe UI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Segoe UI"/>
              </a:rPr>
              <a:t>HONEST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4980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EF9"/>
                </a:solidFill>
                <a:latin typeface="Segoe UI"/>
              </a:rPr>
              <a:t>What it is — and what it isn't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700" b="1">
                <a:solidFill>
                  <a:srgbClr val="E8EEF9"/>
                </a:solidFill>
                <a:latin typeface="Segoe UI"/>
              </a:rPr>
              <a:t>Is: </a:t>
            </a:r>
            <a:r>
              <a:rPr sz="1700">
                <a:solidFill>
                  <a:srgbClr val="93A4C3"/>
                </a:solidFill>
                <a:latin typeface="Segoe UI"/>
              </a:rPr>
              <a:t>a demo-grade awareness tool that makes the invisible pattern visible.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700" b="1">
                <a:solidFill>
                  <a:srgbClr val="E8EEF9"/>
                </a:solidFill>
                <a:latin typeface="Segoe UI"/>
              </a:rPr>
              <a:t>Isn't: </a:t>
            </a:r>
            <a:r>
              <a:rPr sz="1700">
                <a:solidFill>
                  <a:srgbClr val="93A4C3"/>
                </a:solidFill>
                <a:latin typeface="Segoe UI"/>
              </a:rPr>
              <a:t>a detector product, a reporting channel, or legal advice.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700" b="1">
                <a:solidFill>
                  <a:srgbClr val="E8EEF9"/>
                </a:solidFill>
                <a:latin typeface="Segoe UI"/>
              </a:rPr>
              <a:t>Limits: </a:t>
            </a:r>
            <a:r>
              <a:rPr sz="1700">
                <a:solidFill>
                  <a:srgbClr val="93A4C3"/>
                </a:solidFill>
                <a:latin typeface="Segoe UI"/>
              </a:rPr>
              <a:t>heuristic detector on invented messages; synthetic bank data; single-user SQLite.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700" b="1">
                <a:solidFill>
                  <a:srgbClr val="E8EEF9"/>
                </a:solidFill>
                <a:latin typeface="Segoe UI"/>
              </a:rPr>
              <a:t>Next: </a:t>
            </a:r>
            <a:r>
              <a:rPr sz="1700">
                <a:solidFill>
                  <a:srgbClr val="93A4C3"/>
                </a:solidFill>
                <a:latin typeface="Segoe UI"/>
              </a:rPr>
              <a:t>real message corpora, hosted DB, IITM Madras-referenced reporting 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709160"/>
            <a:ext cx="10515600" cy="1051560"/>
          </a:xfrm>
          <a:prstGeom prst="roundRect">
            <a:avLst/>
          </a:prstGeom>
          <a:solidFill>
            <a:srgbClr val="121B2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2DD4BF"/>
                </a:solidFill>
                <a:latin typeface="Segoe UI"/>
              </a:rPr>
              <a:t>Try it now  →  https://muleshield-r4zy.onrender.com</a:t>
            </a:r>
          </a:p>
          <a:p>
            <a:pPr algn="ctr"/>
            <a:r>
              <a:rPr sz="1300">
                <a:solidFill>
                  <a:srgbClr val="93A4C3"/>
                </a:solidFill>
                <a:latin typeface="Segoe UI"/>
              </a:rPr>
              <a:t>Source + full README on github.com/jayasuthan703-ux/MuleShield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3A4C3"/>
                </a:solidFill>
                <a:latin typeface="Segoe UI"/>
              </a:rPr>
              <a:t>MuleShield · synthetic data · illustrative signals, not legal advice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3A4C3"/>
                </a:solidFill>
                <a:latin typeface="Segoe UI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